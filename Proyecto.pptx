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</p:sldIdLst>
  <p:sldSz cx="10058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F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1938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porcentaje de personas en méxico en salarios minimos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Hoja1!$A$2:$A$8</c:f>
              <c:strCache>
                <c:ptCount val="7"/>
                <c:pt idx="0">
                  <c:v>Sin ingresos</c:v>
                </c:pt>
                <c:pt idx="1">
                  <c:v>Hasta uno</c:v>
                </c:pt>
                <c:pt idx="2">
                  <c:v>uno a dos</c:v>
                </c:pt>
                <c:pt idx="3">
                  <c:v>dos a tres</c:v>
                </c:pt>
                <c:pt idx="4">
                  <c:v>tres a cuatro</c:v>
                </c:pt>
                <c:pt idx="5">
                  <c:v>cuatro a cinco</c:v>
                </c:pt>
                <c:pt idx="6">
                  <c:v>mas de cinco</c:v>
                </c:pt>
              </c:strCache>
            </c:strRef>
          </c:cat>
          <c:val>
            <c:numRef>
              <c:f>Hoja1!$B$2:$B$8</c:f>
              <c:numCache>
                <c:formatCode>0%</c:formatCode>
                <c:ptCount val="7"/>
                <c:pt idx="0">
                  <c:v>0.06</c:v>
                </c:pt>
                <c:pt idx="1">
                  <c:v>0.2</c:v>
                </c:pt>
                <c:pt idx="2">
                  <c:v>0.34</c:v>
                </c:pt>
                <c:pt idx="3">
                  <c:v>0.18</c:v>
                </c:pt>
                <c:pt idx="4">
                  <c:v>0.08</c:v>
                </c:pt>
                <c:pt idx="5">
                  <c:v>0.06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73-4C67-9165-BB41E0419C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2857158505525201E-2"/>
          <c:y val="0.85436701662292214"/>
          <c:w val="0.88042290949866242"/>
          <c:h val="0.109521872265966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21760916249106"/>
          <c:y val="7.5387334291705771E-2"/>
          <c:w val="0.72289041994750658"/>
          <c:h val="0.8231374682182324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ingreso minimo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Hoja1!$A$2:$A$33</c:f>
              <c:strCache>
                <c:ptCount val="32"/>
                <c:pt idx="0">
                  <c:v>Oaxaca</c:v>
                </c:pt>
                <c:pt idx="1">
                  <c:v>Chiapas</c:v>
                </c:pt>
                <c:pt idx="2">
                  <c:v>Tlaxcala</c:v>
                </c:pt>
                <c:pt idx="3">
                  <c:v>Guerrero</c:v>
                </c:pt>
                <c:pt idx="4">
                  <c:v>Michoacán</c:v>
                </c:pt>
                <c:pt idx="5">
                  <c:v>Veracruz</c:v>
                </c:pt>
                <c:pt idx="6">
                  <c:v>Durango</c:v>
                </c:pt>
                <c:pt idx="7">
                  <c:v>Zacatecas</c:v>
                </c:pt>
                <c:pt idx="8">
                  <c:v>San Luis Potosí</c:v>
                </c:pt>
                <c:pt idx="9">
                  <c:v>Guanajuato</c:v>
                </c:pt>
                <c:pt idx="10">
                  <c:v>Tabasco</c:v>
                </c:pt>
                <c:pt idx="11">
                  <c:v>Estado de México</c:v>
                </c:pt>
                <c:pt idx="12">
                  <c:v>chihuahua</c:v>
                </c:pt>
                <c:pt idx="13">
                  <c:v>Hidalgo</c:v>
                </c:pt>
                <c:pt idx="14">
                  <c:v>Baja california</c:v>
                </c:pt>
                <c:pt idx="15">
                  <c:v>Nayarit</c:v>
                </c:pt>
                <c:pt idx="16">
                  <c:v>Quintana Roo</c:v>
                </c:pt>
                <c:pt idx="17">
                  <c:v>Tamaulipas</c:v>
                </c:pt>
                <c:pt idx="18">
                  <c:v>Puebla</c:v>
                </c:pt>
                <c:pt idx="19">
                  <c:v>Yucatán</c:v>
                </c:pt>
                <c:pt idx="20">
                  <c:v>Coahuila</c:v>
                </c:pt>
                <c:pt idx="21">
                  <c:v>Morelos</c:v>
                </c:pt>
                <c:pt idx="22">
                  <c:v>Baja california Sur</c:v>
                </c:pt>
                <c:pt idx="23">
                  <c:v>Campeche</c:v>
                </c:pt>
                <c:pt idx="24">
                  <c:v>Jalisco </c:v>
                </c:pt>
                <c:pt idx="25">
                  <c:v>Sinaloa</c:v>
                </c:pt>
                <c:pt idx="26">
                  <c:v>Queretaro</c:v>
                </c:pt>
                <c:pt idx="27">
                  <c:v>Aguascalientes</c:v>
                </c:pt>
                <c:pt idx="28">
                  <c:v>Colima</c:v>
                </c:pt>
                <c:pt idx="29">
                  <c:v>Nuevo León</c:v>
                </c:pt>
                <c:pt idx="30">
                  <c:v>Sonora</c:v>
                </c:pt>
                <c:pt idx="31">
                  <c:v>Ciudad de México</c:v>
                </c:pt>
              </c:strCache>
            </c:strRef>
          </c:cat>
          <c:val>
            <c:numRef>
              <c:f>Hoja1!$B$2:$B$33</c:f>
              <c:numCache>
                <c:formatCode>"$"#,##0</c:formatCode>
                <c:ptCount val="32"/>
                <c:pt idx="0">
                  <c:v>29000</c:v>
                </c:pt>
                <c:pt idx="1">
                  <c:v>30000</c:v>
                </c:pt>
                <c:pt idx="2">
                  <c:v>31000</c:v>
                </c:pt>
                <c:pt idx="3">
                  <c:v>33000</c:v>
                </c:pt>
                <c:pt idx="4">
                  <c:v>34000</c:v>
                </c:pt>
                <c:pt idx="5">
                  <c:v>34000</c:v>
                </c:pt>
                <c:pt idx="6">
                  <c:v>35000</c:v>
                </c:pt>
                <c:pt idx="7">
                  <c:v>36000</c:v>
                </c:pt>
                <c:pt idx="8">
                  <c:v>38000</c:v>
                </c:pt>
                <c:pt idx="9">
                  <c:v>39000</c:v>
                </c:pt>
                <c:pt idx="10">
                  <c:v>39000</c:v>
                </c:pt>
                <c:pt idx="11">
                  <c:v>41000</c:v>
                </c:pt>
                <c:pt idx="12">
                  <c:v>42000</c:v>
                </c:pt>
                <c:pt idx="13">
                  <c:v>44000</c:v>
                </c:pt>
                <c:pt idx="14">
                  <c:v>45000</c:v>
                </c:pt>
                <c:pt idx="15">
                  <c:v>45000</c:v>
                </c:pt>
                <c:pt idx="16">
                  <c:v>46000</c:v>
                </c:pt>
                <c:pt idx="17">
                  <c:v>46000</c:v>
                </c:pt>
                <c:pt idx="18">
                  <c:v>48000</c:v>
                </c:pt>
                <c:pt idx="19">
                  <c:v>48000</c:v>
                </c:pt>
                <c:pt idx="20">
                  <c:v>49000</c:v>
                </c:pt>
                <c:pt idx="21">
                  <c:v>49000</c:v>
                </c:pt>
                <c:pt idx="22">
                  <c:v>50000</c:v>
                </c:pt>
                <c:pt idx="23">
                  <c:v>52000</c:v>
                </c:pt>
                <c:pt idx="24">
                  <c:v>54000</c:v>
                </c:pt>
                <c:pt idx="25">
                  <c:v>55000</c:v>
                </c:pt>
                <c:pt idx="26">
                  <c:v>57000</c:v>
                </c:pt>
                <c:pt idx="27">
                  <c:v>59000</c:v>
                </c:pt>
                <c:pt idx="28">
                  <c:v>59000</c:v>
                </c:pt>
                <c:pt idx="29">
                  <c:v>62999.999999999993</c:v>
                </c:pt>
                <c:pt idx="30">
                  <c:v>68000</c:v>
                </c:pt>
                <c:pt idx="31">
                  <c:v>87000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C2-4338-BC55-5374AB27E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772591039"/>
        <c:axId val="772593951"/>
      </c:barChart>
      <c:catAx>
        <c:axId val="772591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72593951"/>
        <c:crosses val="autoZero"/>
        <c:auto val="1"/>
        <c:lblAlgn val="ctr"/>
        <c:lblOffset val="100"/>
        <c:noMultiLvlLbl val="0"/>
      </c:catAx>
      <c:valAx>
        <c:axId val="7725939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7259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122363"/>
            <a:ext cx="854964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602038"/>
            <a:ext cx="7543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65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319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709740"/>
            <a:ext cx="86753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4589465"/>
            <a:ext cx="86753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336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825625"/>
            <a:ext cx="427482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825625"/>
            <a:ext cx="427482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397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65127"/>
            <a:ext cx="867537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681163"/>
            <a:ext cx="42551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505075"/>
            <a:ext cx="4255174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681163"/>
            <a:ext cx="42761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505075"/>
            <a:ext cx="427613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997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426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494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57200"/>
            <a:ext cx="32440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987427"/>
            <a:ext cx="50920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57400"/>
            <a:ext cx="32440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546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57200"/>
            <a:ext cx="32440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987427"/>
            <a:ext cx="50920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57400"/>
            <a:ext cx="32440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298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714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365125"/>
            <a:ext cx="2168843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65125"/>
            <a:ext cx="6380798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815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65127"/>
            <a:ext cx="86753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825625"/>
            <a:ext cx="86753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6356352"/>
            <a:ext cx="2263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A73CC-117E-41B7-A7BF-F47ECD9A9F54}" type="datetimeFigureOut">
              <a:rPr lang="es-MX" smtClean="0"/>
              <a:t>24/03/2022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6356352"/>
            <a:ext cx="339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6356352"/>
            <a:ext cx="2263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28E75-DDD5-4EBA-ACE5-B36B75C3D2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5814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CFB7A24-38AA-4701-963E-A8D826BAE44A}"/>
              </a:ext>
            </a:extLst>
          </p:cNvPr>
          <p:cNvSpPr txBox="1"/>
          <p:nvPr/>
        </p:nvSpPr>
        <p:spPr>
          <a:xfrm>
            <a:off x="486561" y="1115467"/>
            <a:ext cx="4949505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5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ingresos de los mexicanos</a:t>
            </a:r>
            <a:endParaRPr lang="es-MX" sz="35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" name="Picture 10" descr="edificios de gran altura de hormigón gris, ciudad de México, Fondo de pantalla HD">
            <a:extLst>
              <a:ext uri="{FF2B5EF4-FFF2-40B4-BE49-F238E27FC236}">
                <a16:creationId xmlns:a16="http://schemas.microsoft.com/office/drawing/2014/main" id="{5E9167FD-4488-41D3-BEC2-94DAC6D88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0" y="0"/>
            <a:ext cx="4387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3D3FD8-1BCF-49E5-B63A-F63C71B25223}"/>
              </a:ext>
            </a:extLst>
          </p:cNvPr>
          <p:cNvSpPr txBox="1"/>
          <p:nvPr/>
        </p:nvSpPr>
        <p:spPr>
          <a:xfrm>
            <a:off x="2268908" y="3389646"/>
            <a:ext cx="252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Alfonso Reyes</a:t>
            </a:r>
          </a:p>
        </p:txBody>
      </p:sp>
    </p:spTree>
    <p:extLst>
      <p:ext uri="{BB962C8B-B14F-4D97-AF65-F5344CB8AC3E}">
        <p14:creationId xmlns:p14="http://schemas.microsoft.com/office/powerpoint/2010/main" val="2104430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6932A8-2E18-4C4F-A36C-BE3DD22BA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" y="584054"/>
            <a:ext cx="8675370" cy="4351338"/>
          </a:xfrm>
        </p:spPr>
        <p:txBody>
          <a:bodyPr/>
          <a:lstStyle/>
          <a:p>
            <a:r>
              <a:rPr lang="es-ES" dirty="0"/>
              <a:t>El objetivo de ésta presentación es dar un panorama hacia los ingresos de los mexicanos, y dando referencia a los sectores económicos que pertenecen. </a:t>
            </a:r>
            <a:endParaRPr lang="es-MX" dirty="0"/>
          </a:p>
        </p:txBody>
      </p:sp>
      <p:pic>
        <p:nvPicPr>
          <p:cNvPr id="4098" name="Picture 2" descr="Alza del salario mínimo traerá informalidad - El Sol de Tampico | Noticias  Locales, Policiacas, sobre México, Tamaulipas y el Mundo">
            <a:extLst>
              <a:ext uri="{FF2B5EF4-FFF2-40B4-BE49-F238E27FC236}">
                <a16:creationId xmlns:a16="http://schemas.microsoft.com/office/drawing/2014/main" id="{70CD7E7D-056E-478C-A845-8668FF739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90" y="2573847"/>
            <a:ext cx="4937620" cy="308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98549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BDE5E6A-75C5-4B9C-8846-55B308B0B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394169"/>
              </p:ext>
            </p:extLst>
          </p:nvPr>
        </p:nvGraphicFramePr>
        <p:xfrm>
          <a:off x="3884102" y="1410657"/>
          <a:ext cx="6207853" cy="4798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33822DBA-4381-45BB-9816-B0E1E659A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371370"/>
              </p:ext>
            </p:extLst>
          </p:nvPr>
        </p:nvGraphicFramePr>
        <p:xfrm>
          <a:off x="419450" y="2021352"/>
          <a:ext cx="3716322" cy="281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774">
                  <a:extLst>
                    <a:ext uri="{9D8B030D-6E8A-4147-A177-3AD203B41FA5}">
                      <a16:colId xmlns:a16="http://schemas.microsoft.com/office/drawing/2014/main" val="621732022"/>
                    </a:ext>
                  </a:extLst>
                </a:gridCol>
                <a:gridCol w="1238774">
                  <a:extLst>
                    <a:ext uri="{9D8B030D-6E8A-4147-A177-3AD203B41FA5}">
                      <a16:colId xmlns:a16="http://schemas.microsoft.com/office/drawing/2014/main" val="4248415963"/>
                    </a:ext>
                  </a:extLst>
                </a:gridCol>
                <a:gridCol w="1238774">
                  <a:extLst>
                    <a:ext uri="{9D8B030D-6E8A-4147-A177-3AD203B41FA5}">
                      <a16:colId xmlns:a16="http://schemas.microsoft.com/office/drawing/2014/main" val="2598193616"/>
                    </a:ext>
                  </a:extLst>
                </a:gridCol>
              </a:tblGrid>
              <a:tr h="58626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Salario mínimo</a:t>
                      </a:r>
                      <a:endParaRPr lang="es-MX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Equivalente a pesos</a:t>
                      </a:r>
                      <a:endParaRPr lang="es-MX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Al mes </a:t>
                      </a:r>
                    </a:p>
                    <a:p>
                      <a:r>
                        <a:rPr lang="es-ES" sz="700" dirty="0"/>
                        <a:t>(considerando 26 días de trabajo)</a:t>
                      </a:r>
                      <a:endParaRPr lang="es-MX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77589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$123.22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$2,303.72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526345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$246.44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$6,407.44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251412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$369.66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$9,611.16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190959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$492.88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$12,814.88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575507"/>
                  </a:ext>
                </a:extLst>
              </a:tr>
              <a:tr h="44580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solidFill>
                            <a:schemeClr val="tx1"/>
                          </a:solidFill>
                        </a:rPr>
                        <a:t>$616.1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$16,018.6</a:t>
                      </a:r>
                      <a:endParaRPr lang="es-MX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152532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EB83644-13AA-4D80-B0ED-576CBBC02EE1}"/>
              </a:ext>
            </a:extLst>
          </p:cNvPr>
          <p:cNvSpPr txBox="1"/>
          <p:nvPr/>
        </p:nvSpPr>
        <p:spPr>
          <a:xfrm>
            <a:off x="2025941" y="269954"/>
            <a:ext cx="5337496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white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b="1" dirty="0"/>
              <a:t>Ingresos de los mexicanos </a:t>
            </a:r>
            <a:endParaRPr lang="es-MX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13571F-EA0A-408C-89B0-7F90105AB852}"/>
              </a:ext>
            </a:extLst>
          </p:cNvPr>
          <p:cNvSpPr txBox="1"/>
          <p:nvPr/>
        </p:nvSpPr>
        <p:spPr>
          <a:xfrm>
            <a:off x="696286" y="1219498"/>
            <a:ext cx="355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Todos los datos de ésta presentación son del año 2020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10213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D0A6873-A3A8-4C2E-BC4D-B7D55AD1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033" y="953199"/>
            <a:ext cx="7005032" cy="5096578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B271817-0848-4F97-A10B-78EF78673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888968"/>
              </p:ext>
            </p:extLst>
          </p:nvPr>
        </p:nvGraphicFramePr>
        <p:xfrm>
          <a:off x="195495" y="808222"/>
          <a:ext cx="2539315" cy="5241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356">
                  <a:extLst>
                    <a:ext uri="{9D8B030D-6E8A-4147-A177-3AD203B41FA5}">
                      <a16:colId xmlns:a16="http://schemas.microsoft.com/office/drawing/2014/main" val="1918801512"/>
                    </a:ext>
                  </a:extLst>
                </a:gridCol>
                <a:gridCol w="1249959">
                  <a:extLst>
                    <a:ext uri="{9D8B030D-6E8A-4147-A177-3AD203B41FA5}">
                      <a16:colId xmlns:a16="http://schemas.microsoft.com/office/drawing/2014/main" val="3715085544"/>
                    </a:ext>
                  </a:extLst>
                </a:gridCol>
              </a:tblGrid>
              <a:tr h="11783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b="1" u="none" strike="noStrike" dirty="0">
                          <a:effectLst/>
                          <a:latin typeface="Arial Black" panose="020B0A04020102020204" pitchFamily="34" charset="0"/>
                        </a:rPr>
                        <a:t>Estado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435" marR="6435" marT="643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b="1" u="none" strike="noStrike" dirty="0">
                          <a:effectLst/>
                          <a:latin typeface="Arial Black" panose="020B0A04020102020204" pitchFamily="34" charset="0"/>
                        </a:rPr>
                        <a:t>ingreso promedio 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435" marR="6435" marT="643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658207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Ciudad de México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$18,709.00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85314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Baja california Sur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$16,906.00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81891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Nuevo León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$16,774.00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70547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Queretaro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$15,448.00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952555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Baja california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$15,404.00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660126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chihuahua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$15,321.00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595476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San Luis Potosí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$14,347.00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8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Coahuila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$13,874.00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717813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Sonora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$13,806.00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607388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Colima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$13,459.00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236859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Jalisco 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$12,627.00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347636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Guanajuato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$12,543.00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618554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Quintana Roo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$12,393.00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969180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Yucatán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$12,380.00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3748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Aguascalientes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$12,361.00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288787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Campeche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$12,127.00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107049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Sinaloa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$11,882.00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569854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Michoacán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$11,816.00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106455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Estado de México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$11,646.00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008634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Nayarit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$11,583.00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926145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Tamaulipas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$11,495.00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36048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Zacatecas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$11,441.00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508588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Hidalgo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$10,997.00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41223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Puebla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$10,835.00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67624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Durango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$10,705.00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082827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Tabasco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$10,616.00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520931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Veracruz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$10,476.00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965769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Oaxaca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$10,310.00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175273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Chiapas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$10,134.00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004120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Morelos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$9,956.00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141705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Tlaxcala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$9,172.00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25713"/>
                  </a:ext>
                </a:extLst>
              </a:tr>
              <a:tr h="128700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Guerrero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$8,797.00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35" marR="6435" marT="643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7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036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D35176B2-78DE-4381-8021-EAB6A1B9E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3132137"/>
              </p:ext>
            </p:extLst>
          </p:nvPr>
        </p:nvGraphicFramePr>
        <p:xfrm>
          <a:off x="4108361" y="369332"/>
          <a:ext cx="6031684" cy="5394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02FDD6BF-850F-41EE-AE76-C99EC26BA8D1}"/>
              </a:ext>
            </a:extLst>
          </p:cNvPr>
          <p:cNvSpPr txBox="1"/>
          <p:nvPr/>
        </p:nvSpPr>
        <p:spPr>
          <a:xfrm>
            <a:off x="545285" y="0"/>
            <a:ext cx="985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Ingreso mínimo para estar dentro del 1% de los mas ricos por cada estado </a:t>
            </a:r>
            <a:endParaRPr lang="es-MX" dirty="0"/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8365193-CF58-4BFC-BB66-09C72A423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23793"/>
              </p:ext>
            </p:extLst>
          </p:nvPr>
        </p:nvGraphicFramePr>
        <p:xfrm>
          <a:off x="298444" y="369332"/>
          <a:ext cx="3809917" cy="5895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3108">
                  <a:extLst>
                    <a:ext uri="{9D8B030D-6E8A-4147-A177-3AD203B41FA5}">
                      <a16:colId xmlns:a16="http://schemas.microsoft.com/office/drawing/2014/main" val="4066192928"/>
                    </a:ext>
                  </a:extLst>
                </a:gridCol>
                <a:gridCol w="993061">
                  <a:extLst>
                    <a:ext uri="{9D8B030D-6E8A-4147-A177-3AD203B41FA5}">
                      <a16:colId xmlns:a16="http://schemas.microsoft.com/office/drawing/2014/main" val="3868140856"/>
                    </a:ext>
                  </a:extLst>
                </a:gridCol>
                <a:gridCol w="754345">
                  <a:extLst>
                    <a:ext uri="{9D8B030D-6E8A-4147-A177-3AD203B41FA5}">
                      <a16:colId xmlns:a16="http://schemas.microsoft.com/office/drawing/2014/main" val="2079060718"/>
                    </a:ext>
                  </a:extLst>
                </a:gridCol>
                <a:gridCol w="929403">
                  <a:extLst>
                    <a:ext uri="{9D8B030D-6E8A-4147-A177-3AD203B41FA5}">
                      <a16:colId xmlns:a16="http://schemas.microsoft.com/office/drawing/2014/main" val="1016568384"/>
                    </a:ext>
                  </a:extLst>
                </a:gridCol>
              </a:tblGrid>
              <a:tr h="205322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Estado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Ingreso </a:t>
                      </a:r>
                      <a:r>
                        <a:rPr lang="es-MX" sz="1000" b="1" u="none" strike="noStrike" dirty="0" err="1">
                          <a:effectLst/>
                        </a:rPr>
                        <a:t>minimo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población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1" u="none" strike="noStrike" dirty="0">
                          <a:effectLst/>
                        </a:rPr>
                        <a:t>c/ de personas</a:t>
                      </a:r>
                      <a:endParaRPr lang="es-MX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802"/>
                  </a:ext>
                </a:extLst>
              </a:tr>
              <a:tr h="16384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Ciudad de México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$87,000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9 209 944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92,099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429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Sonora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$68,000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2 944 840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29,448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431605"/>
                  </a:ext>
                </a:extLst>
              </a:tr>
              <a:tr h="198067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Nuevo León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$63,000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5 784 442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57,844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07825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Colima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 731 391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7,314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85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Aguascalientes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1 425 607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14,256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3683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Queretaro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$57,000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2 368 467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23,685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20006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Sinaloa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$55,000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3 026 943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30,269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63504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Jalisco 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$54,000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8 348 151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83,482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80320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Campeche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$52,000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 928 363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9,284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5503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Baja california Sur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$50,000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 798 447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7,984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63602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Coahuila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3 146 771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31,468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3839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Morelos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1 971 520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19,715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91769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Yucatán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$48,000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2 320 898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23,209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48171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Puebla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$48,000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6 583 278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65,833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2058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Quintana Roo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$46,000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1 857 985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18,580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11883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Tamaulipas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$46,000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3 527 735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35,277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63763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Baja california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$45,000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3 769 020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37,690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62745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Nayarit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$45,000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1 235 456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12,355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1969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Hidalgo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$44,000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3 082 841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30,828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47295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chihuahua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$42,000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3 741 869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37,419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32273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Estado de México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$41,000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16 992 418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169,924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0258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Guanajuato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6 166 934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61,669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04759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Tabasco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2 402 598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24,026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3750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San Luis Potosí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$38,000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2 822 255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28,223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245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Zacatecas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$36,000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1 622 138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16,221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60262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Durango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$35,000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1 832 650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18,327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73768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Veracruz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$34,000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8 062 579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80,626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94036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Michoacán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$34,000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4 748 846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47,488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2759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>
                          <a:effectLst/>
                        </a:rPr>
                        <a:t>Guerrero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$33,000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3 540 685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35,407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34087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Tlaxcala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$31,000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>
                          <a:effectLst/>
                        </a:rPr>
                        <a:t>  1 342 977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13,430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5868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Chiapas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$30,000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5 543 828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55,438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73040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dirty="0">
                          <a:effectLst/>
                        </a:rPr>
                        <a:t>Oaxaca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$29,000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  4 132 148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u="none" strike="noStrike" dirty="0">
                          <a:effectLst/>
                        </a:rPr>
                        <a:t>41,321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93768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501FBFF6-6689-4D46-ADAD-F32676ABE10D}"/>
              </a:ext>
            </a:extLst>
          </p:cNvPr>
          <p:cNvSpPr txBox="1"/>
          <p:nvPr/>
        </p:nvSpPr>
        <p:spPr>
          <a:xfrm>
            <a:off x="298444" y="6334779"/>
            <a:ext cx="3912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Promedio de </a:t>
            </a:r>
            <a:r>
              <a:rPr lang="es-MX" sz="1400" b="0" i="0" u="none" strike="noStrike" dirty="0">
                <a:effectLst/>
                <a:latin typeface="Calibri" panose="020F0502020204030204" pitchFamily="34" charset="0"/>
              </a:rPr>
              <a:t>$46,437.00</a:t>
            </a:r>
            <a:r>
              <a:rPr lang="es-MX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2608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8294EB9-DC84-4B31-92EA-F302F0EFE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41" y="0"/>
            <a:ext cx="8840917" cy="662306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BF5B41-2DBA-4ED2-9D55-51AFE75DFD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90" b="93075"/>
          <a:stretch/>
        </p:blipFill>
        <p:spPr>
          <a:xfrm>
            <a:off x="2955852" y="0"/>
            <a:ext cx="4774018" cy="47492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2F0D68B-D282-4487-9D3D-AB3FE54FA507}"/>
              </a:ext>
            </a:extLst>
          </p:cNvPr>
          <p:cNvSpPr/>
          <p:nvPr/>
        </p:nvSpPr>
        <p:spPr>
          <a:xfrm>
            <a:off x="5454502" y="839972"/>
            <a:ext cx="2966484" cy="350875"/>
          </a:xfrm>
          <a:prstGeom prst="rect">
            <a:avLst/>
          </a:prstGeom>
          <a:solidFill>
            <a:srgbClr val="FA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5014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5D87B2F-9F29-4DF8-8DD8-003EC2CAD335}"/>
              </a:ext>
            </a:extLst>
          </p:cNvPr>
          <p:cNvSpPr/>
          <p:nvPr/>
        </p:nvSpPr>
        <p:spPr>
          <a:xfrm>
            <a:off x="0" y="595423"/>
            <a:ext cx="2647507" cy="1314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146" name="Picture 2" descr="Cuáles son las clases sociales en México?">
            <a:extLst>
              <a:ext uri="{FF2B5EF4-FFF2-40B4-BE49-F238E27FC236}">
                <a16:creationId xmlns:a16="http://schemas.microsoft.com/office/drawing/2014/main" id="{834328B4-5C8C-4EF0-B8B3-D272EC572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321" y="709410"/>
            <a:ext cx="7045196" cy="518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B83FA36-D818-422F-AA6D-3DCB4DBFAE4E}"/>
              </a:ext>
            </a:extLst>
          </p:cNvPr>
          <p:cNvSpPr txBox="1"/>
          <p:nvPr/>
        </p:nvSpPr>
        <p:spPr>
          <a:xfrm>
            <a:off x="265813" y="709410"/>
            <a:ext cx="2169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 partir de ingresos superiores a $38,000 una persona es considerada rica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0314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676</TotalTime>
  <Words>500</Words>
  <Application>Microsoft Office PowerPoint</Application>
  <PresentationFormat>Personalizado</PresentationFormat>
  <Paragraphs>225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Alfonso Reyes</dc:creator>
  <cp:lastModifiedBy>Alfonso Reyes</cp:lastModifiedBy>
  <cp:revision>1</cp:revision>
  <dcterms:created xsi:type="dcterms:W3CDTF">2022-03-25T04:29:00Z</dcterms:created>
  <dcterms:modified xsi:type="dcterms:W3CDTF">2022-03-25T15:45:56Z</dcterms:modified>
</cp:coreProperties>
</file>